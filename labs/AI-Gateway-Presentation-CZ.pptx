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Úvodní snímek prezentace AI Gateway.
Tato prezentace pokrývá Azure API Management (APIM) jako AI Gateway — vzor, kdy APIM stojí před AI modely a řídí bezpečnost, spolehlivost, výkon a náklady.
Repozitář: AI-Gateway/labs/multi-model-failover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Přehled obsahu — 7 sekcí.
Sekce 1–2 vysvětlují koncepty a architekturu.
Sekce 3–6 procházejí jednotlivé ověřené scénáře s reálnými testovými daty.
Sekce 7 shrnuje klíčové poznatky.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Klíčové APIM pojmy mapované na AI Gateway vzor:
• API: V tomto projektu je 'inference' API jediný vstupní bod pro všechny chat completions.
• Backend: Dvě Azure AI Foundry služby — foundry1 (swedencentral, priorita 1) a foundry2 (eastus2, priorita 2).
• Backend Pool: 'pool-foundry' sdružuje oba backendy. Prioritní směrování posílá provoz nejprve na foundry1.
• Policy: Product-level policy.xml aplikuje azure-openai-token-limit; API-level policy.xml aplikuje retry a emit-token-metric.
• Product: Finance (2000 TPM, $20 kvóta), Marketing (1000 TPM, $10 kvóta), HR (500 TPM, $5 kvóta).
• Subscription: Jeden na produkt — subscription key se předává v hlavičce 'api-key'.
• Observability: App Insights pro distribuované trasování, Log Analytics pro KQL dotazy, custom tabulky PRICING_CL a SUBSCRIPTION_QUOTA_CL pro FinOps.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Detaily architektury:
NASAZENÍ:
• Resource Group: lab-multi-model-failover
• APIM: apim-g3mjvytixvcoc
• AI Foundry 1: foundry1-g3mjvytixvcoc (swedencentral) — primární, priorita=1
• AI Foundry 2: foundry2-g3mjvytixvcoc (eastus2) — failover, priorita=2
• Modely: gpt-4.1-nano, gpt-4.1, gpt-5.2
KONFIGURACE APIM:
• Backend Pool 'pool-foundry' s prioritním směrováním
• Circuit breaker: přepne po 1 chybě, trvání 1 minuta, acceptRetryAfter=true
• Retry policy: 2 pokusy na 429/503 s exponenciálním backoffem
• Product-level policy: azure-openai-token-limit per subscription
• API-level policy: azure-openai-emit-token-metric s dimenzí Product
MONITORING:
• App Insights: insights-g3mjvytixvcoc
• Log Analytics: workspace-g3mjvytixvcoc
• Custom tabulky: PRICING_CL (ceny modelů), SUBSCRIPTION_QUOTA_CL (kvóty oddělení)
• FinOps automatizace: Logic App + scheduled query rules pro auto-suspend/activate subscriptions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Metodologie zátěžového testu:
DVA REŽIMY TESTOVÁNÍ:
1. Standardní režim: 60 požadavků při concurrency=10, rozložených mezi Finance (50 %), Marketing (30 %), HR (20 %).
   - TPM na foundry1 sníženo na 1K pro vyvolání 429 a vynucení failoveru na foundry2.
2. Kvótový režim: Testuje každý produkt samostatně až do dosažení TPM limitu.
NÁSTROJE:
• load-test.py: Python konkurentní generátor zátěže pomocí raw HTTP požadavků
• verify-scenarios.py: Dotazuje Log Analytics přes ARM REST API, generuje markdown report + 16 grafů
METRIKY:
• 4 782 celkem spotřebovaných tokenů
• Průměrná latence: 1 468 ms
• Nula chyb (všechny 429 jsou z rate limitingu, ne z poruch)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DETAILY SCÉNÁŘE 1:
Pro vyvolání failoveru byla kapacita modelů na foundry1 snížena na 1K TPM (z 200K).
Odesláno 60 požadavků při concurrency=10.
JAK TO FUNGUJE:
1. APIM backend pool posílá na foundry1 (priorita=1) jako první.
2. foundry1 vrátí 429 při překročení TPM.
3. Retry policy zachytí 429, znovu vybere z poolu → směruje na foundry2 (priorita=2).
4. Circuit breaker přepne po 1 chybě, vyřadí foundry1 na 1 minutu.
5. Klient vidí 200 OK — failover je zcela transparentní.
DŮKAZY Z LOGŮ (ApiManagementGatewayLogs):
• foundry1: 139 požadavků (71,3 %) — zahrnuje počáteční úspěchy před omezením
• foundry2: 56 požadavků (28,7 %) — failover provoz po omezení foundry1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Tento graf ukazuje využití backendů v čase.
Klíčové pozorování: provoz na foundry2 se objevuje poté, co foundry1 začne být omezován.
Přechod demonstruje spolupráci retry policy a circuit breakeru:
- Retry policy řeší jednotlivé 429 zkoušením jiného backendu
- Circuit breaker přepne po trvalých chybách, směruje VEŠKERÝ provoz na foundry2 po dobu 1 minuty
- Po resetu circuit breakeru se foundry1 může znovu zkusit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DETAILY SCÉNÁŘE 2:
Produkty jsou definovány v main.bicep s konfigurací per-product:
• Finance: tpm=2000, tokenQuota=1 500 000 měsíčně, costQuota=$20
• Marketing: tpm=1000, tokenQuota=1 000 000 měsíčně, costQuota=$10
• HR: tpm=500, tokenQuota=500 000 měsíčně, costQuota=$5
Každý produkt má subscription (subscription-finance, subscription-marketing, subscription-hr).
Subscription klíč se předává v hlavičce api-key.
APIM resolvuje subscription → product → aplikuje product-level policies (token rate limit).
Všechny tři produkty úspěšně přistupovaly k API během zátěžového testování.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DETAILY SCÉNÁŘE 3:
Data o využití pocházejí z ApiManagementGatewayLogs v Log Analytics.
Policy azure-openai-emit-token-metric emituje vlastní metriky s dimenzí Product.
VYUŽITÍ TOKENŮ PODLE ODDĚLENÍ:
• Finance: 3 930 tokenů (109 úspěšných požadavků)
• Marketing: 1 913 tokenů (53 úspěšných požadavků)
• HR: 1 121 tokenů (33 úspěšných požadavků)
VYUŽITÍ TOKENŮ PODLE MODELU:
• gpt-4.1: 3 783 tokenů (104 požadavků)
• gpt-4.1-nano: 3 181 tokenů (92 požadavků)
Tato data umožňují chargeback modely: využití každého oddělení je měřeno a přiřaditelné.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Křížový pohled a časová osa:
ODDĚLENÍ × MODEL:
• Finance využívá oba modely intenzivně — největší spotřebitel
• Marketing/HR preferují gpt-4.1-nano pro cenovou efektivitu
ČASOVÁ OSA:
Ukazuje spotřebu tokenů v čase během okna zátěžového testu.
Viditelné jsou nárazové vzorce, když konkurentní požadavky dorazí současně.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DETAILY SCÉNÁŘE 4:
Výpočet nákladů využívá dvě custom tabulky v Log Analytics:
1. PRICING_CL: Ceny modelů za 1M tokenů (vstupní/výstupní sazby)
   - gpt-4.1: $2/M vstup, $8/M výstup
   - gpt-4.1-nano: $0,10/M vstup, $0,40/M výstup
2. SUBSCRIPTION_QUOTA_CL: Měsíční nákladové kvóty per subscription
NÁKLADY PODLE MODELU:
• gpt-4.1: $21,68 celkem (96 % všech nákladů) — výkonný, ale drahý
• gpt-4.1-nano: $0,90 celkem (4 %) — 24× levnější na token
FINOPS AUTOMATIZACE:
Při překročení kvóty scheduled query rules spustí alerty.
Logic App přijme alerty a pozastaví subscription.
Tím vznikají automatické guardrails zabraňující překročení rozpočtu.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DETAILY SCÉNÁŘE 5:
Vynucování TPM per-product provádí policy azure-openai-token-limit v product policy (products-policy.xml).
Policy používá counter-key=context.Subscription.Id, takže každá subscription má nezávislé počítadlo.
Při překročení tokenů v 1minutovém okně APIM vrátí 429 PŘED odesláním na backend.
PROČ TOKENY PŘESAHUJÍ 100 % LIMITU:
Při concurrency=5 je více požadavků současně v letu.
Některé se dokončí dříve, než se počítadlo zkontroluje, což způsobí mírné překročení.
ČASOVÁ OSA VYNUCOVÁNÍ:
• HR (500 TPM): 21 úspěšných, pak 429 po ~668 tokenech (134 % limitu)
• Marketing (1000 TPM): 35 úspěšných, pak 429 po ~1 283 tokenech (128 %)
• Finance (2000 TPM): 78 úspěšných, pak 429 po ~2 831 tokenech (142 %)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Křivky akumulace tokenů pro každý produkt:
Každý graf ukazuje kumulativně spotřebované tokeny (osa Y) s postupem požadavků (osa X).
Červená přerušovaná čára označuje nakonfigurovaný TPM limit.
Vzorec viditelný u všech tří produktů:
1. Zelené body stoupají s akumulací tokenů z úspěšných požadavků
2. Křivka překročí linii TPM limitu
3. Objeví se červené body — další požadavky jsou odmítnuty s 429
4. Občasné zelené body se objevují i po limitu kvůli souběžným požadavkům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SHRNUTÍ:
Tato prezentace demonstrovala Azure API Management jako AI Gateway s 5 ověřenými scénáři:
1. LOAD BALANCING: Backend pool s prioritním směrováním. Failover z foundry1→foundry2 transparentní pro klienty.
   Důkaz: 71,3 % foundry1, 28,7 % foundry2 v gateway logech. Nulové chyby klienta.
2. PŘÍSTUP ODDĚLENÍ: Tři APIM produkty (Finance, Marketing, HR) s nezávislými subscriptions.
3. MONITORING VYUŽITÍ: Spotřeba tokenů sledována per oddělení a model.
   Důkaz: Finance 3 930 tokenů, Marketing 1 913, HR 1 121.
4. MONITORING NÁKLADŮ: Výpočet nákladů per-request pomocí cenových tabulek modelů.
   Důkaz: Všechna oddělení v rámci rozpočtu (Finance 68 %, Marketing 53 %, HR 73 % kvóty).
5. VYNUCOVÁNÍ KVÓT: Per-product TPM limity vynuceny přes azure-openai-token-limit policy.
   Důkaz: Všechny tři produkty dosáhly svého stropu 429.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237744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Gateway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API Management jako řídicí vrstva pro 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Multi-Model Failover · Load Balancing · FinOps · Observability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Březen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Obsah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Přehled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F2B4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Klíčové pojmy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097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API, Backend, Policy, Subscription, Observability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618488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F2B4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184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6184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Architektura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16184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služby a jejich propojení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093976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39696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396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1396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Scénář 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213969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Balancing a Backend Failover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615184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660904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609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26609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Scénář 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40480" y="266090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Přístup oddělení přes Product Subscriptions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136392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18211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1821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1821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Scénáře 3–4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840480" y="31821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využití a nákladů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703320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7033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34440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Scénář 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840480" y="3703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Vynucování tokenových kvót na produkt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178808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224528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22452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34440" y="42245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Shrnutí a závěry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840480" y="42245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Klíčové pojmy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Základy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5156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05156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Rozhraní vystavené přes APIM, které klienti volají — abstrahuje skutečné AI endpointy.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527048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81912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8191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158191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Skutečný endpoint AI modelu (Azure AI Foundry), který zpracovává požadavky za APIM.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12264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122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Pool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2112264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Skupina backendů s prioritním směrováním — umožňuje load balancing a failover.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642616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4261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2642616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XML pravidla aplikovaná ve fázích inbound/outbound — rate limiting, retry, metriky, autentizace.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118104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72968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7296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3172968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Balíček API nabízený oddělení — definuje rozsah přístupu a limity rychlosti.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648456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03320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033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0" y="370332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Klíčové oprávnění spojující oddělení s produktem — sleduje využití na konzumenta.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178808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233672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336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423367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přes App Insights + Log Analytics — logy, metriky, náklady, distribuované trasování.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Architektura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služby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Klienti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0078D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554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00B7C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194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FB90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834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08760" y="1801368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508760" y="2441448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508760" y="3081528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03120" y="105156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API Management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31720" y="1600200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233172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&amp; Subscriptions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31720" y="2075688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0756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Rate Limiting Policy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31720" y="2551176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2551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 Policy (2x na 429)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31720" y="3026664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30266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Metrics Emission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31720" y="3502152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502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Pool (prioritní)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0680" y="2103120"/>
            <a:ext cx="64008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486400" y="1828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Primární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40680" y="3200400"/>
            <a:ext cx="6400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486400" y="2926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Failover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72200" y="15544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72200" y="1572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 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1874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Sweden Central · Priorita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gpt-4.1-nano  ·  gpt-4.1  ·  gpt-5.2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28346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72200" y="28529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31272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East US 2 · Priorita 2 (failover)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7220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gpt-4.1-nano  ·  gpt-4.1  ·  gpt-5.2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0F2B46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Vrstva observability: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Insights  ·  Log Analytics Workspace  ·  Token Metrics  ·  FinOps Custom Tables  ·  Cost Analysis Workbook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Přístup k zátěžovému testování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Metodologie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Souhrn zátěžového testu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Celkem požadavků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Úspěšných (59 %)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Omezených (41 %)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560320" y="3520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Chyb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ověřených scénářů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1737360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7373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17373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Balancing &amp; Failover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286000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860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22860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Řízení přístupu oddělení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2834640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8346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28346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využití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3383280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3832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77840" y="33832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nákladů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3931920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9319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7784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Vynucování TPM kvót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Scénář 1: Load Balancing &amp; Failover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Výsledky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Failover potvrzen — při omezení Foundry 1 APIM automaticky přesměroval na Foundry 2 bez jakýchkoli chyb viditelných klientem.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Distribuce backendů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3840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Backend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Požadavky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Foundry 1 (Primární)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71,3 %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Foundry 2 (Failover)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28,7 %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mimarusa/Documents/PRJ/_DEMOS/AI-Gateway/labs/multi-model-failover/scenario-charts/scenario1_backend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783080"/>
            <a:ext cx="43891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Scénář 1: Časová osa backendů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Výsledky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/Users/mimarusa/Documents/PRJ/_DEMOS/AI-Gateway/labs/multi-model-failover/scenario-charts/scenario1_backend_tim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8412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Scénář 2: Řízení přístupu oddělení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Výsledky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Každé oddělení má vlastní APIM Product s unikátním subscription klíčem. Přístup je izolovaný a sledovaný nezávisle.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078D4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65960"/>
            <a:ext cx="2651760" cy="2286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TPM Limit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331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2 000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Kvóta nákladů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Požadavky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1691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6916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0B7C3"/>
          </a:solidFill>
          <a:ln/>
        </p:spPr>
      </p:sp>
      <p:sp>
        <p:nvSpPr>
          <p:cNvPr id="20" name="Shape 18"/>
          <p:cNvSpPr/>
          <p:nvPr/>
        </p:nvSpPr>
        <p:spPr>
          <a:xfrm>
            <a:off x="3246120" y="1965960"/>
            <a:ext cx="2651760" cy="22860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TPM Limit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2331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Kvóta nákladů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2900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Požadavky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1691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6916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FFB9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6480" y="1965960"/>
            <a:ext cx="2651760" cy="228600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TPM Limit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2331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Kvóta nákladů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0936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Požadavky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endParaRPr lang="en-US" sz="1400" dirty="0"/>
          </a:p>
        </p:txBody>
      </p:sp>
      <p:pic>
        <p:nvPicPr>
          <p:cNvPr id="38" name="Image 0" descr="/Users/mimarusa/Documents/PRJ/_DEMOS/AI-Gateway/labs/multi-model-failover/scenario-charts/scenario2_department_a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3977640"/>
            <a:ext cx="841248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Scénář 3: Monitoring využití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Výsledky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Využití tokenů je sledováno per produkt, model a v čase pomocí policy azure-openai-emit-token-metric.</a:t>
            </a:r>
            <a:endParaRPr lang="en-US" sz="1200" dirty="0"/>
          </a:p>
        </p:txBody>
      </p:sp>
      <p:pic>
        <p:nvPicPr>
          <p:cNvPr id="8" name="Image 0" descr="/Users/mimarusa/Documents/PRJ/_DEMOS/AI-Gateway/labs/multi-model-failover/scenario-charts/scenario3_usage_by_subscrip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554480"/>
            <a:ext cx="4389120" cy="3200400"/>
          </a:xfrm>
          <a:prstGeom prst="rect">
            <a:avLst/>
          </a:prstGeom>
        </p:spPr>
      </p:pic>
      <p:pic>
        <p:nvPicPr>
          <p:cNvPr id="9" name="Image 1" descr="/Users/mimarusa/Documents/PRJ/_DEMOS/AI-Gateway/labs/multi-model-failover/scenario-charts/scenario3_usage_by_mode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55448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Scénář 3: Detailní pohled na využití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Výsledky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/Users/mimarusa/Documents/PRJ/_DEMOS/AI-Gateway/labs/multi-model-failover/scenario-charts/scenario3_usage_cro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05840"/>
            <a:ext cx="4389120" cy="3200400"/>
          </a:xfrm>
          <a:prstGeom prst="rect">
            <a:avLst/>
          </a:prstGeom>
        </p:spPr>
      </p:pic>
      <p:pic>
        <p:nvPicPr>
          <p:cNvPr id="8" name="Image 1" descr="/Users/mimarusa/Documents/PRJ/_DEMOS/AI-Gateway/labs/multi-model-failover/scenario-charts/scenario3_usage_tim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05840"/>
            <a:ext cx="438912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Vlevo: Využití tokenů oddělení × model  |  Vpravo: Využití v čase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Scénář 4: Monitoring nákladů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Výsledky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Náklady se počítají per požadavek pomocí cenových sazeb specifických pro model z custom tabulky PRICING_CL.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Náklady vs. kvóta (měsíční rozpočet)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20240"/>
          <a:ext cx="3840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822960"/>
                <a:gridCol w="1005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Oddělení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Náklady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Kvóta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Využití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$13,66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$20,00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68 %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$5,29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$10,00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53 %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$3,63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$5,00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73 %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mimarusa/Documents/PRJ/_DEMOS/AI-Gateway/labs/multi-model-failover/scenario-charts/scenario4_cost_vs_quo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50876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Scénář 5: Vynucování TPM kvót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Výsledky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Všechny tři TPM limity produktů byly vynuceny — požadavky překračující kvótu obdržely HTTP 429 (Too Many Requests).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914400"/>
                <a:gridCol w="731520"/>
                <a:gridCol w="109728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Produkt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TPM Limit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Úspěch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Tokeny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První 429 při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134 % limitu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1 000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1 283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128 % limitu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47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2 831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142 % limitu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mimarusa/Documents/PRJ/_DEMOS/AI-Gateway/labs/multi-model-failover/scenario-charts/scenario5_quota_summ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3246120"/>
            <a:ext cx="841248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Vynucování kvót: Akumulace tokenů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Detailní pohled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Zelené body = úspěšné požadavky · Červené body = 429 omezené · Přerušovaná čára = TPM limit</a:t>
            </a:r>
            <a:endParaRPr lang="en-US" sz="1000" dirty="0"/>
          </a:p>
        </p:txBody>
      </p:sp>
      <p:pic>
        <p:nvPicPr>
          <p:cNvPr id="8" name="Image 0" descr="/Users/mimarusa/Documents/PRJ/_DEMOS/AI-Gateway/labs/multi-model-failover/scenario-charts/scenario5_quota_h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8595360" cy="1143000"/>
          </a:xfrm>
          <a:prstGeom prst="rect">
            <a:avLst/>
          </a:prstGeom>
        </p:spPr>
      </p:pic>
      <p:pic>
        <p:nvPicPr>
          <p:cNvPr id="9" name="Image 1" descr="/Users/mimarusa/Documents/PRJ/_DEMOS/AI-Gateway/labs/multi-model-failover/scenario-charts/scenario5_quota_market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2560320"/>
            <a:ext cx="8595360" cy="1143000"/>
          </a:xfrm>
          <a:prstGeom prst="rect">
            <a:avLst/>
          </a:prstGeom>
        </p:spPr>
      </p:pic>
      <p:pic>
        <p:nvPicPr>
          <p:cNvPr id="10" name="Image 2" descr="/Users/mimarusa/Documents/PRJ/_DEMOS/AI-Gateway/labs/multi-model-failover/scenario-charts/scenario5_quota_financ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3749040"/>
            <a:ext cx="859536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Klíčové závěry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52728"/>
            <a:ext cx="164592" cy="164592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Odolnost díky návrhu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Prioritní backend pool + retry + circuit breaker = nulové chyby viditelné klientem při omezení backendu.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02536"/>
            <a:ext cx="164592" cy="164592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92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per oddělení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APIM Products vynucují tokenové limity per oddělení — každý tým má svůj vlastní kvótový strop.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52344"/>
            <a:ext cx="164592" cy="164592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426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Plná viditelnost nákladů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96265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Sledování nákladů na úrovni tokenů per oddělení a model umožňuje přesné chargebacky a kontrolu rozpočtu.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02152"/>
            <a:ext cx="164592" cy="164592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924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Automatizované FinOps guardrails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7124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App + scheduled alerts automaticky pozastavují subscriptions při překročení nákladových kvót.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164592" cy="164592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142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Pozorovatelné a auditovatelné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4622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Každý požadavek je logován s backendem, modelem, tokeny a náklady — dotazovatelné přes KQL v Log Analytics.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7C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2026-03-25T13:31:58Z</dcterms:created>
  <dcterms:modified xsi:type="dcterms:W3CDTF">2026-03-25T13:31:58Z</dcterms:modified>
</cp:coreProperties>
</file>
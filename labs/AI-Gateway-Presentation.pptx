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the AI Gateway presentation.
This deck covers Azure API Management (APIM) as an AI Gateway — the pattern of placing APIM in front of AI model endpoints to manage security, reliability, performance, and cost.
Project repo: AI-Gateway/labs/multi-model-failover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overview — 7 sections.
Sections 1-2 set the conceptual and architectural foundation.
Sections 3-6 walk through each verified scenario with live test data.
Section 7 wraps up with key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APIM concepts mapped to the AI Gateway pattern:
• API: In this project, the 'inference' API is the single entry point for all chat completions.
• Backend: Two Azure AI Foundry services — foundry1 (swedencentral, priority 1) and foundry2 (eastus2, priority 2).
• Backend Pool: 'pool-foundry' groups both backends. Priority-based routing sends traffic to foundry1 first; foundry2 is the failover.
• Policy: product-level policy.xml applies azure-openai-token-limit; API-level policy.xml applies retry, emit-token-metric, and error normalization.
• Product: Finance (2000 TPM, $20 quota), Marketing (1000 TPM, $10 quota), HR (500 TPM, $5 quota).
• Subscription: One per product — the subscription key is passed as 'api-key' header. APIM resolves the subscription → product → policies.
• Observability: App Insights for distributed tracing, Log Analytics Workspace for KQL queries, custom tables PRICING_CL and SUBSCRIPTION_QUOTA_CL for FinOps.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details:
DEPLOYMENT:
• Resource Group: lab-multi-model-failover
• APIM: apim-g3mjvytixvcoc (Consumption or Standard tier)
• AI Foundry 1: foundry1-g3mjvytixvcoc (swedencentral) — primary, priority=1
• AI Foundry 2: foundry2-g3mjvytixvcoc (eastus2) — failover, priority=2
• Models deployed on both: gpt-4.1-nano, gpt-4.1, gpt-5.2
APIM CONFIGURATION:
• Backend Pool 'pool-foundry' with priority-based routing
• Circuit breaker: trips after 1 failure, 1-minute trip duration, acceptRetryAfter=true
• Retry policy: 2 retries on 429/503 with exponential backoff
• Product-level policy: azure-openai-token-limit per subscription
• API-level policy: azure-openai-emit-token-metric with Product dimension
MONITORING:
• App Insights: insights-g3mjvytixvcoc
• Log Analytics: workspace-g3mjvytixvcoc
• Custom tables: PRICING_CL (model pricing), SUBSCRIPTION_QUOTA_CL (dept quotas)
• FinOps automation: Logic App + scheduled query rules for auto-suspend/activate subscriptions
All deployed via Bicep (main.bicep) with modular references to modules/apim/v2/ and modules/cognitive-services/v2/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test methodology:
TWO TEST MODES:
1. Standard mode: 60 requests at concurrency=10, distributed across Finance (50%), Marketing (30%), HR (20%) — tests load balancing and failover.
   - foundry1 TPM was lowered to 1K to trigger 429s and force failover to foundry2.
2. Quota mode: Tests each product independently until TPM limit is hit — 40 requests (HR), 62 (Marketing), 125 (Finance) at concurrency=5.
TOOLS:
• load-test.py: Python concurrent load generator using raw HTTP requests to capture response headers
• verify-scenarios.py: Queries Log Analytics via ARM REST API, generates markdown report + 16 charts
METRICS:
• 4,782 total tokens consumed
• Average latency: 1,468 ms
• Zero errors (all 429s are from rate limiting, not failures)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1 DETAILS:
To trigger failover, foundry1 model deployments were lowered to 1K TPM (from 200K).
60 requests sent at concurrency=10.
HOW IT WORKS:
1. APIM backend pool sends to foundry1 (priority=1) first.
2. foundry1 returns 429 when TPM exceeded.
3. Retry policy catches 429, re-selects from pool → routes to foundry2 (priority=2).
4. Circuit breaker trips after 1 failure, removing foundry1 for 1 minute.
5. Client sees 200 OK — failover is completely transparent.
EVIDENCE FROM LOGS (ApiManagementGatewayLogs):
• foundry1: 139 requests (71.3%) — includes initial successes before throttling
• foundry2: 56 requests (28.7%) — failover traffic after foundry1 throttled
• BackendUrl shows exact model endpoint used for each request
• Both gpt-4.1-nano and gpt-4.1 were served by foundry2 during failover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timeline chart shows backend usage over time.
Key observation: foundry2 traffic appears after foundry1 starts getting throttled.
The transition demonstrates APIM's retry + circuit breaker working together:
- Retry policy handles individual 429s by trying another backend
- Circuit breaker trips after sustained failures, routing ALL traffic to foundry2 for 1 minute
- After circuit breaker resets, foundry1 may be tried again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2 DETAILS:
Products are defined in main.bicep with per-product configuration:
• Finance: tpm=2000, tokenQuota=1,500,000 monthly, costQuota=$20
• Marketing: tpm=1000, tokenQuota=1,000,000 monthly, costQuota=$10
• HR: tpm=500, tokenQuota=500,000 monthly, costQuota=$5
Each product has a subscription (subscription-finance, subscription-marketing, subscription-hr).
The subscription key is passed in the api-key header.
APIM resolves subscription → product → applies product-level policies (token rate limit).
All three products successfully accessed the API during load testing.
The 429 responses visible here are from the quota enforcement test, NOT access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3 DETAILS:
Usage data comes from ApiManagementGatewayLogs in Log Analytics.
The azure-openai-emit-token-metric policy emits custom metrics with:
- Dimension: Product (maps to APIM product name)
- Metrics: prompt tokens, completion tokens, total tokens
TOKEN USAGE BY DEPARTMENT:
• Finance: 3,930 tokens (109 successful requests)
• Marketing: 1,913 tokens (53 successful requests)
• HR: 1,121 tokens (33 successful requests)
TOKEN USAGE BY MODEL:
• gpt-4.1: 3,783 tokens (104 requests) — higher per-request token usage
• gpt-4.1-nano: 3,181 tokens (92 requests) — efficient for simpler prompts
This data enables chargeback models: each department's usage is metered and attributable.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Cross-reference and timeline views:
DEPT × MODEL BREAKDOWN:
• Finance uses both models heavily — largest consumer
• Marketing/HR prefer gpt-4.1-nano for cost efficiency on simpler tasks
TIMELINE:
Shows token consumption over time during the load test window.
Burst patterns visible when concurrent requests land simultaneously.
This data feeds the FinOps workbook for real-time cost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4 DETAILS:
Cost calculation uses two custom Log Analytics tables:
1. PRICING_CL: Model pricing per 1M tokens (input/output rates)
   - gpt-4.1: $2/M input, $8/M output
   - gpt-4.1-nano: $0.10/M input, $0.40/M output
2. SUBSCRIPTION_QUOTA_CL: Monthly cost quotas per subscription
   - Finance: $20, Marketing: $10, HR: $5
COST BY MODEL:
• gpt-4.1: $21.68 total (96% of all costs) — powerful but expensive
• gpt-4.1-nano: $0.90 total (4%) — 24x cheaper per token
FINOPS AUTOMATION:
When cost exceeds quota, scheduled query rules trigger alerts.
Logic App (la-update-sub) receives alerts and suspends the subscription.
When cost drops below quota (e.g., new month), subscription is reactivated.
This creates automated guardrails preventing cost overruns.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SCENARIO 5 DETAILS:
Per-product TPM enforcement is done by the azure-openai-token-limit policy in the product policy (products-policy.xml).
The policy uses counter-key=context.Subscription.Id so each subscription gets an independent counter.
When tokens consumed in a 1-minute window exceed the limit, APIM returns 429 BEFORE forwarding to the backend.
WHY TOKENS EXCEED 100% OF LIMIT:
With concurrency=5, multiple requests are in-flight simultaneously.
Some complete before the counter is checked, causing slight overshoot.
This is expected behavior — the policy checks BEFORE the request, but tokens are counted AFTER.
ENFORCEMENT TIMELINE:
• HR (500 TPM): 21 succeeded, then 429s started after ~668 tokens (134% of limit)
• Marketing (1000 TPM): 35 succeeded, then 429s after ~1,283 tokens (128%)
• Finance (2000 TPM): 78 succeeded, then 429s after ~2,831 tokens (142%)
The 429 response from the token-limit policy is NOT retried by the retry policy because it occurs in the product inbound phase (before backend routing).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Token accumulation curves for each product:
Each chart shows cumulative tokens consumed (Y axis) as requests are sent (X axis).
The red dashed line marks the configured TPM limit.
Pattern visible across all three products:
1. Green dots climb as tokens accumulate from successful requests
2. Curve crosses the TPM limit line
3. Red dots appear — subsequent requests are rejected with 429
4. Occasional green dots still appear after the limit due to concurrent requests completing
This pattern clearly demonstrates the sliding-window token counter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SUMMARY:
This presentation demonstrated Azure API Management as an AI Gateway with 5 verified scenarios:
1. LOAD BALANCING: Backend pool with priority routing. Failover from foundry1→foundry2 transparent to clients.
   Evidence: 71.3% foundry1, 28.7% foundry2 in gateway logs. Zero client errors.
2. DEPARTMENT ACCESS: Three APIM products (Finance, Marketing, HR) with independent subscriptions.
   Evidence: All three products successfully accessed the API.
3. USAGE MONITORING: Token consumption tracked per department and model.
   Evidence: Finance 3,930 tokens, Marketing 1,913, HR 1,121. Breakdowns by model available.
4. COST MONITORING: Per-request cost calculation using model pricing tables.
   Evidence: All departments within budget (Finance 68%, Marketing 53%, HR 73% of quota).
5. QUOTA ENFORCEMENT: Per-product TPM limits enforced via azure-openai-token-limit policy.
   Evidence: All three products hit their 429 ceiling — HR at 134%, Marketing at 128%, Finance at 142% of TPM.
NEXT STEPS:
• Enable gpt-5.2 model in load tests
• Add semantic caching for repeated prompts
• Integrate with Azure Cost Management for enterprise dashboards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97280"/>
            <a:ext cx="73152" cy="237744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Gateway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API Management as Your AI Control Plane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Multi-Model Failover · Load Balancing · FinOps · Observability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097280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F2B4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0972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0" y="10972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APIs, Backends, Policies, Subscriptions, Observability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572768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618488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F2B4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6184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16184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40480" y="161848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services and how they interconnect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093976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139696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139696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2139696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1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840480" y="2139696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 &amp; Backend Failover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2615184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660904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660904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2660904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2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840480" y="2660904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Access via Product Subscriptions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136392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182112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18211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18211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3–4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840480" y="318211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 &amp; Cost Monitoring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3657600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703320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0332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34440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5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3840480" y="37033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Per-Product Token Quota Enforcement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8640" y="4178808"/>
            <a:ext cx="804672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224528"/>
            <a:ext cx="502920" cy="411480"/>
          </a:xfrm>
          <a:prstGeom prst="roundRect">
            <a:avLst>
              <a:gd name="adj" fmla="val 11111"/>
            </a:avLst>
          </a:prstGeom>
          <a:solidFill>
            <a:srgbClr val="0078D4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2245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34440" y="42245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&amp; Takeaways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3840480" y="4224528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Concepts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5156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05156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interface exposed by APIM that clients call — abstracts the underlying AI model endpoints.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58191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58191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158191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actual AI model endpoint (Azure AI Foundry) that processes requests behind APIM.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057400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12264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11226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Pool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2112264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group of backends with priority/weight routing — enables load balancing and failover.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42616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64261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2642616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XML rules applied at inbound/outbound phases — rate limiting, retry logic, token metrics, auth.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118104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172968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17296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286000" y="3172968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package of APIs offered to a department — defines access scope and rate limits.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648456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03320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033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286000" y="370332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key-based credential linking a department to a product — tracks usage per consumer.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4178808"/>
            <a:ext cx="82296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233672"/>
            <a:ext cx="1645920" cy="402336"/>
          </a:xfrm>
          <a:prstGeom prst="roundRect">
            <a:avLst>
              <a:gd name="adj" fmla="val 11364"/>
            </a:avLst>
          </a:prstGeom>
          <a:solidFill>
            <a:srgbClr val="0F2B46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2336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4233672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Monitoring via App Insights + Log Analytics — logs, metrics, costs, distributed tracing.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Services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0078D4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554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9456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00B7C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194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834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FB90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" y="2834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08760" y="180136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508760" y="244144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08760" y="3081528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03120" y="105156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5400">
            <a:solidFill>
              <a:srgbClr val="0078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10972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API 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331720" y="1600200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2331720" y="16002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&amp; Subscriptions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331720" y="2075688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20756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Rate Limiting Policy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31720" y="2551176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25511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Retry Policy (2x on 429)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31720" y="3026664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302666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Metrics Emission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331720" y="3502152"/>
            <a:ext cx="2834640" cy="365760"/>
          </a:xfrm>
          <a:prstGeom prst="roundRect">
            <a:avLst>
              <a:gd name="adj" fmla="val 12500"/>
            </a:avLst>
          </a:prstGeom>
          <a:solidFill>
            <a:srgbClr val="F5F7FA"/>
          </a:solidFill>
          <a:ln/>
        </p:spPr>
      </p:sp>
      <p:sp>
        <p:nvSpPr>
          <p:cNvPr id="28" name="Text 26"/>
          <p:cNvSpPr/>
          <p:nvPr/>
        </p:nvSpPr>
        <p:spPr>
          <a:xfrm>
            <a:off x="2331720" y="350215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Pool (priority)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40680" y="2103120"/>
            <a:ext cx="640080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5486400" y="18288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40680" y="3200400"/>
            <a:ext cx="640080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5486400" y="29260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Failover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172200" y="1554480"/>
            <a:ext cx="26517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15727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 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18745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Sweden Central · Priority 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72200" y="21488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gpt-4.1-nano  ·  gpt-4.1  ·  gpt-5.2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72200" y="283464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59E0B"/>
            </a:solidFill>
            <a:prstDash val="dash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172200" y="28529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AI Foundry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72200" y="31272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East US 2 · Priority 2 (failover)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7220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gpt-4.1-nano  ·  gpt-4.1  ·  gpt-5.2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4160520"/>
            <a:ext cx="8595360" cy="685800"/>
          </a:xfrm>
          <a:prstGeom prst="roundRect">
            <a:avLst>
              <a:gd name="adj" fmla="val 10667"/>
            </a:avLst>
          </a:prstGeom>
          <a:solidFill>
            <a:srgbClr val="0F2B46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Observability Layer: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Application Insights  ·  Log Analytics Workspace  ·  Token Metrics  ·  FinOps Custom Tables  ·  Cost Analysis Workbook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Testing Approach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Test Summary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227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Requests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73736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134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23317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 (59%)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Rate Limited (41%)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292608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2560320" y="3520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1097280"/>
            <a:ext cx="411480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1887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Scenarios Verified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173736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3736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77840" y="173736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 Balancing &amp; Failover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228600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860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77840" y="228600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Access Control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283464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8346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28346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 Monitoring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937760" y="338328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38328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77840" y="33832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Monitoring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393192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93192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77840" y="39319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TPM Quota Enforcement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1: Load Balancing &amp; Failover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594360"/>
          </a:xfrm>
          <a:prstGeom prst="roundRect">
            <a:avLst>
              <a:gd name="adj" fmla="val 9231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Failover confirmed — when Foundry 1 was throttled, APIM automatically routed to Foundry 2 with zero client-visible errors.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Distribution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9456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Requests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Foundry 1 (Primary)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71.3%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Foundry 2 (Failover)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28.7%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1" name="Image 0" descr="/Users/mimarusa/Documents/PRJ/_DEMOS/AI-Gateway/labs/multi-model-failover/scenario-charts/scenario1_backend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783080"/>
            <a:ext cx="438912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1: Backend Timeline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pic>
        <p:nvPicPr>
          <p:cNvPr id="7" name="Image 0" descr="/Users/mimarusa/Documents/PRJ/_DEMOS/AI-Gateway/labs/multi-model-failover/scenario-charts/scenario1_backend_timelin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1051560"/>
            <a:ext cx="841248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2: Department Access Control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department has its own APIM Product with a unique subscription key. Access is isolated and tracked independently.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078D4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65960"/>
            <a:ext cx="2651760" cy="2286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TPM Limit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3736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2,000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Quota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$20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691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0B7C3"/>
          </a:solidFill>
          <a:ln/>
        </p:spPr>
      </p:sp>
      <p:sp>
        <p:nvSpPr>
          <p:cNvPr id="20" name="Shape 18"/>
          <p:cNvSpPr/>
          <p:nvPr/>
        </p:nvSpPr>
        <p:spPr>
          <a:xfrm>
            <a:off x="3246120" y="1965960"/>
            <a:ext cx="2651760" cy="228600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TPM Limit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772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1,000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Quota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1772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2900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1691640"/>
            <a:ext cx="265176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69164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FFB9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1965960"/>
            <a:ext cx="2651760" cy="228600"/>
          </a:xfrm>
          <a:prstGeom prst="rect">
            <a:avLst/>
          </a:prstGeom>
          <a:solidFill>
            <a:srgbClr val="FFB900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16916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09360" y="2331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TPM Limit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233172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309360" y="28346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Quota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2834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309360" y="3337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3337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endParaRPr lang="en-US" sz="1400" dirty="0"/>
          </a:p>
        </p:txBody>
      </p:sp>
      <p:pic>
        <p:nvPicPr>
          <p:cNvPr id="38" name="Image 0" descr="/Users/mimarusa/Documents/PRJ/_DEMOS/AI-Gateway/labs/multi-model-failover/scenario-charts/scenario2_department_acc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977640"/>
            <a:ext cx="841248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3: Usage Monitoring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 usage is tracked per product, model, and over time via the azure-openai-emit-token-metric policy.</a:t>
            </a:r>
            <a:endParaRPr lang="en-US" sz="1200" dirty="0"/>
          </a:p>
        </p:txBody>
      </p:sp>
      <p:pic>
        <p:nvPicPr>
          <p:cNvPr id="8" name="Image 0" descr="/Users/mimarusa/Documents/PRJ/_DEMOS/AI-Gateway/labs/multi-model-failover/scenario-charts/scenario3_usage_by_subscrip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554480"/>
            <a:ext cx="4389120" cy="3200400"/>
          </a:xfrm>
          <a:prstGeom prst="rect">
            <a:avLst/>
          </a:prstGeom>
        </p:spPr>
      </p:pic>
      <p:pic>
        <p:nvPicPr>
          <p:cNvPr id="9" name="Image 1" descr="/Users/mimarusa/Documents/PRJ/_DEMOS/AI-Gateway/labs/multi-model-failover/scenario-charts/scenario3_usage_by_mod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55448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3: Usage Deep Dive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pic>
        <p:nvPicPr>
          <p:cNvPr id="7" name="Image 0" descr="/Users/mimarusa/Documents/PRJ/_DEMOS/AI-Gateway/labs/multi-model-failover/scenario-charts/scenario3_usage_cro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005840"/>
            <a:ext cx="4389120" cy="3200400"/>
          </a:xfrm>
          <a:prstGeom prst="rect">
            <a:avLst/>
          </a:prstGeom>
        </p:spPr>
      </p:pic>
      <p:pic>
        <p:nvPicPr>
          <p:cNvPr id="8" name="Image 1" descr="/Users/mimarusa/Documents/PRJ/_DEMOS/AI-Gateway/labs/multi-model-failover/scenario-charts/scenario3_usage_timelin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3440" y="1005840"/>
            <a:ext cx="438912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43891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Left: Token usage by department × model  |  Right: Usage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4: Cost Monitoring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Costs are calculated per request using model-specific pricing from the PRICING_CL custom table.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vs Quota (Monthly Budget)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20240"/>
          <a:ext cx="3840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822960"/>
                <a:gridCol w="1005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Quota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$13.66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$20.00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$5.29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$10.00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53%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$3.63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$5.00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73%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mimarusa/Documents/PRJ/_DEMOS/AI-Gateway/labs/multi-model-failover/scenario-charts/scenario4_cost_vs_quo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80560" y="1508760"/>
            <a:ext cx="43891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5: TPM Quota Enforcement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8412480" cy="54864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three product TPM limits were enforced — requests exceeding the quota received HTTP 429 (Too Many Requests).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  <a:gridCol w="731520"/>
                <a:gridCol w="109728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Product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TPM Limit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Success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429s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Tokens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First 429 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668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134% of limit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Marketing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1,283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128% of limit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Finance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</a:rPr>
                        <a:t>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</a:rPr>
                        <a:t>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2,831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142% of limit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0" descr="/Users/mimarusa/Documents/PRJ/_DEMOS/AI-Gateway/labs/multi-model-failover/scenario-charts/scenario5_quota_summar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246120"/>
            <a:ext cx="841248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B4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 Enforcement: Token Accumulation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137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B7C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 Dive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 dots = successful requests · Red dots = 429 rate-limited · Dashed line = TPM limit</a:t>
            </a:r>
            <a:endParaRPr lang="en-US" sz="1000" dirty="0"/>
          </a:p>
        </p:txBody>
      </p:sp>
      <p:pic>
        <p:nvPicPr>
          <p:cNvPr id="8" name="Image 0" descr="/Users/mimarusa/Documents/PRJ/_DEMOS/AI-Gateway/labs/multi-model-failover/scenario-charts/scenario5_quota_h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8595360" cy="1143000"/>
          </a:xfrm>
          <a:prstGeom prst="rect">
            <a:avLst/>
          </a:prstGeom>
        </p:spPr>
      </p:pic>
      <p:pic>
        <p:nvPicPr>
          <p:cNvPr id="9" name="Image 1" descr="/Users/mimarusa/Documents/PRJ/_DEMOS/AI-Gateway/labs/multi-model-failover/scenario-charts/scenario5_quota_market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" y="2560320"/>
            <a:ext cx="8595360" cy="1143000"/>
          </a:xfrm>
          <a:prstGeom prst="rect">
            <a:avLst/>
          </a:prstGeom>
        </p:spPr>
      </p:pic>
      <p:pic>
        <p:nvPicPr>
          <p:cNvPr id="10" name="Image 2" descr="/Users/mimarusa/Documents/PRJ/_DEMOS/AI-Gateway/labs/multi-model-failover/scenario-charts/scenario5_quota_financ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749040"/>
            <a:ext cx="859536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7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52728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Resilient by Design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Priority-based backend pool + retry + circuit breaker = zero client-visible failures during backend throttling.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2002536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928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Per-Department Governance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APIM Products enforce token rate limits per department — each team gets its own quota ceiling.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52344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4261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Cost Visibility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296265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Token-level cost tracking per department and model enables precise chargebacks and budget control.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502152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39242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FinOps Guardrails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7124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App + scheduled alerts automatically suspend subscriptions when cost quotas are exceeded.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164592" cy="164592"/>
          </a:xfrm>
          <a:prstGeom prst="ellipse">
            <a:avLst/>
          </a:prstGeom>
          <a:solidFill>
            <a:srgbClr val="00B7C3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142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Observable &amp; Auditable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4622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request is logged with backend, model, tokens, and cost — queryable via KQL in Log Analytics.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7C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2026-03-25T13:23:48Z</dcterms:created>
  <dcterms:modified xsi:type="dcterms:W3CDTF">2026-03-25T13:23:48Z</dcterms:modified>
</cp:coreProperties>
</file>